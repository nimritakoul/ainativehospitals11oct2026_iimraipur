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9" r:id="rId3"/>
    <p:sldId id="260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embeddedFontLst>
    <p:embeddedFont>
      <p:font typeface="Google Sans" panose="020B0604020202020204" charset="0"/>
      <p:regular r:id="rId16"/>
      <p:bold r:id="rId17"/>
      <p:italic r:id="rId18"/>
      <p:boldItalic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PajyOFuiGuRVK9cZxUOVsRFKg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8C6FD5-1F63-4E6A-BD12-499432BD13B6}">
  <a:tblStyle styleId="{348C6FD5-1F63-4E6A-BD12-499432BD13B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0E7"/>
          </a:solidFill>
        </a:fill>
      </a:tcStyle>
    </a:wholeTbl>
    <a:band1H>
      <a:tcTxStyle/>
      <a:tcStyle>
        <a:tcBdr/>
        <a:fill>
          <a:solidFill>
            <a:srgbClr val="CFE1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E1CC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F0E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8F0E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71db3b39e041c7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271db3b39e041c7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271db3b39e041c7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271db3b39e041c7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271db3b39e041c7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271db3b39e041c7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271db3b39e041c7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271db3b39e041c7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inyurl.com/AINativeHospital11Oct2026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h271db3b39e041c7a_0_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h271db3b39e041c7a_0_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199" y="1710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IN" sz="4000"/>
              <a:t>World’s first AI native hospital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705683" y="5536736"/>
            <a:ext cx="1114176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$5 billion hospital at </a:t>
            </a:r>
            <a:r>
              <a:rPr lang="en-IN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 Austin Dell Medical Center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expected to begin construction this winter and </a:t>
            </a:r>
            <a:r>
              <a:rPr lang="en-IN"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complete in 2030. By 2035, AI and robots will run nearly 60% of hospital operations.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936959" y="6460066"/>
            <a:ext cx="100238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https://www.statesman.com/news/healthcare/article/ut-austin-dell-ai-hospital-timeline-cost-vote-22381784.php</a:t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5491" y="1362190"/>
            <a:ext cx="6567053" cy="401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h271db3b39e041c7a_0_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Some AI Powered (Level 1) Hospitals in India </a:t>
            </a:r>
            <a:endParaRPr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32" y="1583553"/>
            <a:ext cx="3451871" cy="2129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880" y="3873757"/>
            <a:ext cx="3220212" cy="201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42100" y="1690689"/>
            <a:ext cx="3497610" cy="2022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28287" y="3826125"/>
            <a:ext cx="3328034" cy="206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6"/>
          <p:cNvGraphicFramePr/>
          <p:nvPr/>
        </p:nvGraphicFramePr>
        <p:xfrm>
          <a:off x="847212" y="964080"/>
          <a:ext cx="10290175" cy="5591150"/>
        </p:xfrm>
        <a:graphic>
          <a:graphicData uri="http://schemas.openxmlformats.org/drawingml/2006/table">
            <a:tbl>
              <a:tblPr firstRow="1">
                <a:noFill/>
                <a:tableStyleId>{348C6FD5-1F63-4E6A-BD12-499432BD13B6}</a:tableStyleId>
              </a:tblPr>
              <a:tblGrid>
                <a:gridCol w="18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Operational Vector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Level 0: No AI (Legacy HIS)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Level 1: AI-Enabled (Point Add-Ons)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Level 2: AI-Native (Hospital OS)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Data &amp; Architecture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Siloed Databases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Connected Silos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Single Unified Intelligence Layer</a:t>
                      </a:r>
                      <a:endParaRPr/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Workflow Trigger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Manual &amp; Sequential</a:t>
                      </a:r>
                      <a:endParaRPr sz="2000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Trigger-Based Alerts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Closed-Loop Actions by AI Agents</a:t>
                      </a:r>
                      <a:endParaRPr/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Clinical Scribing &amp; Notes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Manual Transcription</a:t>
                      </a:r>
                      <a:endParaRPr sz="2000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Point Dictation / Scribe Tool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Ambient Intelligence</a:t>
                      </a:r>
                      <a:endParaRPr sz="2000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Insurance Pre-Auth &amp; Claims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Manual Paperwork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Automated Extraction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Agentic Pre-Authorization</a:t>
                      </a:r>
                      <a:endParaRPr sz="2000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Governance &amp; Regulatory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Manual Checklists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Added-On Compliance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Native Guardrails. CDSCO regulations, human-in-the-loop checks</a:t>
                      </a:r>
                      <a:endParaRPr sz="2000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 u="none" strike="noStrike" cap="none"/>
                        <a:t>System Improvement</a:t>
                      </a:r>
                      <a:endParaRPr sz="2000" b="1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Static Software Upgraded every 5–7</a:t>
                      </a:r>
                      <a:endParaRPr sz="2000" u="none" strike="noStrike" cap="non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Vendor Updates</a:t>
                      </a:r>
                      <a:endParaRPr/>
                    </a:p>
                  </a:txBody>
                  <a:tcPr marL="23250" marR="23250" marT="15500" marB="155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strike="noStrike" cap="none"/>
                        <a:t>Continuous Self Learning</a:t>
                      </a:r>
                      <a:endParaRPr/>
                    </a:p>
                  </a:txBody>
                  <a:tcPr marL="23250" marR="23250" marT="15500" marB="155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71893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AI Adoption in Hospitals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h271db3b39e041c7a_0_12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0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Prerequisites to building an AI native hospital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343002" y="2088939"/>
            <a:ext cx="2984620" cy="3663468"/>
          </a:xfrm>
          <a:prstGeom prst="roundRect">
            <a:avLst>
              <a:gd name="adj" fmla="val 16667"/>
            </a:avLst>
          </a:prstGeom>
          <a:solidFill>
            <a:srgbClr val="275317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Infrastructure First:</a:t>
            </a:r>
            <a:endParaRPr sz="24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Treat AI as core operational infrastructure, not modular add-ons. </a:t>
            </a:r>
            <a:endParaRPr sz="2400" dirty="0"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648200" y="2086984"/>
            <a:ext cx="2877312" cy="3532420"/>
          </a:xfrm>
          <a:prstGeom prst="roundRect">
            <a:avLst>
              <a:gd name="adj" fmla="val 16667"/>
            </a:avLst>
          </a:prstGeom>
          <a:solidFill>
            <a:srgbClr val="275317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Workflow Redesign:</a:t>
            </a: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Re-engineer clinical protocols </a:t>
            </a:r>
            <a:r>
              <a:rPr lang="en-IN" sz="24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buying or procuring technology. </a:t>
            </a:r>
            <a:endParaRPr sz="2400" dirty="0"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846090" y="2086983"/>
            <a:ext cx="2877312" cy="3532420"/>
          </a:xfrm>
          <a:prstGeom prst="roundRect">
            <a:avLst>
              <a:gd name="adj" fmla="val 16667"/>
            </a:avLst>
          </a:prstGeom>
          <a:solidFill>
            <a:srgbClr val="275317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Value Metric:</a:t>
            </a: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Measure ROI via clinical hours reclaimed, capacity unlocked, and claim denial rate reductions</a:t>
            </a:r>
            <a:r>
              <a:rPr lang="en-IN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IN" sz="4000"/>
              <a:t>Hospitals’ Regulatory Accountability</a:t>
            </a:r>
            <a:br>
              <a:rPr lang="en-IN" b="1"/>
            </a:b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277112" y="1356445"/>
            <a:ext cx="7601712" cy="16459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Compliance &amp; Device Registration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Adhere strictly to national DPDP laws, ABDM data sovereignty, and CDSCO Medical Device Rules.</a:t>
            </a:r>
            <a:endParaRPr dirty="0"/>
          </a:p>
        </p:txBody>
      </p:sp>
      <p:sp>
        <p:nvSpPr>
          <p:cNvPr id="170" name="Google Shape;170;p9"/>
          <p:cNvSpPr/>
          <p:nvPr/>
        </p:nvSpPr>
        <p:spPr>
          <a:xfrm>
            <a:off x="2239024" y="3102875"/>
            <a:ext cx="7316456" cy="16459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Clinical Governance &amp; Liability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Attending physicians retain 100% diagnostic authority &amp; legal accountability. </a:t>
            </a:r>
            <a:endParaRPr dirty="0"/>
          </a:p>
          <a:p>
            <a:pPr marL="6858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Mandatory sign-off protocols for all algorithmic suggestions. </a:t>
            </a:r>
            <a:endParaRPr dirty="0"/>
          </a:p>
        </p:txBody>
      </p:sp>
      <p:sp>
        <p:nvSpPr>
          <p:cNvPr id="171" name="Google Shape;171;p9"/>
          <p:cNvSpPr/>
          <p:nvPr/>
        </p:nvSpPr>
        <p:spPr>
          <a:xfrm>
            <a:off x="3091478" y="4849305"/>
            <a:ext cx="7316455" cy="16459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Auditing &amp; Safety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Audit the algorithmic accuracy across diverse patient demographics periodically.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177" name="Google Shape;17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Being </a:t>
            </a:r>
            <a:r>
              <a:rPr lang="en-IN" b="1" dirty="0"/>
              <a:t>AI-Native does not mean throwing away your existing </a:t>
            </a:r>
            <a:r>
              <a:rPr lang="en-IN" dirty="0"/>
              <a:t>HIS. It involves wrapping an intelligent orchestration layer around it.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Technology alone won't fix a broken process. We </a:t>
            </a:r>
            <a:r>
              <a:rPr lang="en-IN" b="1" dirty="0"/>
              <a:t>re-engineer the clinical protocol first</a:t>
            </a:r>
            <a:r>
              <a:rPr lang="en-IN" dirty="0"/>
              <a:t>, then let the AI orchestration layer automate it.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dirty="0"/>
              <a:t>AI agents serve as decision support tools with </a:t>
            </a:r>
            <a:r>
              <a:rPr lang="en-IN" b="1" dirty="0"/>
              <a:t>strict human-in-the-loop sign-offs</a:t>
            </a:r>
            <a:r>
              <a:rPr lang="en-IN" dirty="0"/>
              <a:t>. Full diagnostic and legal </a:t>
            </a:r>
            <a:r>
              <a:rPr lang="en-IN" b="1" dirty="0"/>
              <a:t>authority rests with the attending physicians. </a:t>
            </a:r>
            <a:endParaRPr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1641" y="600404"/>
            <a:ext cx="4594141" cy="452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834519" y="5734376"/>
            <a:ext cx="1028838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Drive Link: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https://tinyurl.com/AINativeHospital11Oct2026</a:t>
            </a: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/>
        </p:nvSpPr>
        <p:spPr>
          <a:xfrm>
            <a:off x="421178" y="5903893"/>
            <a:ext cx="1177082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GitHub:  https://github.com/NimritaKoul/AINativeHospitals11Oct2026_IIMRaipur</a:t>
            </a:r>
            <a:endParaRPr/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3829" y="253092"/>
            <a:ext cx="5644342" cy="564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>
            <a:spLocks noGrp="1"/>
          </p:cNvSpPr>
          <p:nvPr>
            <p:ph type="title"/>
          </p:nvPr>
        </p:nvSpPr>
        <p:spPr>
          <a:xfrm>
            <a:off x="1205665" y="54742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br>
              <a:rPr lang="en-IN" sz="3200"/>
            </a:br>
            <a:br>
              <a:rPr lang="en-IN" sz="3200"/>
            </a:br>
            <a:endParaRPr sz="3200"/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0507" y="549509"/>
            <a:ext cx="4858405" cy="43932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1540323" y="5280244"/>
            <a:ext cx="911135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Interactive Agent Walkthrough: https://zapier.com/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398</Words>
  <Application>Microsoft Office PowerPoint</Application>
  <PresentationFormat>Widescreen</PresentationFormat>
  <Paragraphs>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Play</vt:lpstr>
      <vt:lpstr>Google Sans</vt:lpstr>
      <vt:lpstr>Office Theme</vt:lpstr>
      <vt:lpstr>PowerPoint Presentation</vt:lpstr>
      <vt:lpstr>PowerPoint Presentation</vt:lpstr>
      <vt:lpstr>World’s first AI native hospital</vt:lpstr>
      <vt:lpstr>PowerPoint Presentation</vt:lpstr>
      <vt:lpstr>Some AI Powered (Level 1) Hospitals in India </vt:lpstr>
      <vt:lpstr>AI Adoption in Hospitals</vt:lpstr>
      <vt:lpstr>PowerPoint Presentation</vt:lpstr>
      <vt:lpstr>Prerequisites to building an AI native hospital</vt:lpstr>
      <vt:lpstr>Hospitals’ Regulatory Accountability </vt:lpstr>
      <vt:lpstr>Conclusion</vt:lpstr>
      <vt:lpstr>PowerPoint Presentation</vt:lpstr>
      <vt:lpstr>PowerPoint Presentation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Dr.Nimrita Koul</dc:creator>
  <cp:lastModifiedBy>Dr.Nimrita Koul</cp:lastModifiedBy>
  <cp:revision>4</cp:revision>
  <dcterms:created xsi:type="dcterms:W3CDTF">2026-10-07T05:02:36Z</dcterms:created>
  <dcterms:modified xsi:type="dcterms:W3CDTF">2026-10-10T05:54:57Z</dcterms:modified>
</cp:coreProperties>
</file>